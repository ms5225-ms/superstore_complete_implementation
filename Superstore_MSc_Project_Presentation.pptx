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40080"/>
            <a:ext cx="146304" cy="4800600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86868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MSc PROJECT IN COMPUTER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481328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Sales Performance Analysis</a:t>
            </a:r>
          </a:p>
          <a:p>
            <a:pPr>
              <a:spcAft>
                <a:spcPts val="5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and Growth Recommendations</a:t>
            </a:r>
          </a:p>
          <a:p>
            <a:pPr>
              <a:spcAft>
                <a:spcPts val="50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for a Super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425196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Research • data analytics • tested software prototype •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9848" y="5184648"/>
            <a:ext cx="9966960" cy="12801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40410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Md Majid Anwer  ·  SRN 419863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806440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The University of Law   |   Supervisor: Paul Sant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The research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Decision support for a fictitious Super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426464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27D91"/>
                </a:solidFill>
                <a:latin typeface="Aptos"/>
              </a:defRPr>
            </a:pPr>
            <a:r>
              <a:t>Which changes might improve sales and profitability?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414016"/>
            <a:ext cx="3438144" cy="2084831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578608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63824"/>
            <a:ext cx="3072384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Regions and customer segments with different sales and profit contributions.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2414016"/>
            <a:ext cx="3438144" cy="2084831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578608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WHAT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163824"/>
            <a:ext cx="3072384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Product categories and subcategories associated with gains or losses.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414016"/>
            <a:ext cx="3438144" cy="2084831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578608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163824"/>
            <a:ext cx="3072384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Discounting, repeat purchasing and monthly demand patterns.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" y="60076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A7A"/>
                </a:solidFill>
                <a:latin typeface="Aptos"/>
              </a:defRPr>
            </a:pPr>
            <a:r>
              <a:t>Scope: hypothesis generation and methodological evaluation; not a causal intervention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Aims and success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Research objectives are linked to reproducible software outputs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99616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17320"/>
            <a:ext cx="10579608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438"/>
                </a:solidFill>
                <a:latin typeface="Aptos"/>
              </a:defRPr>
            </a:pPr>
            <a:r>
              <a:t>Load and validate line-item transaction data without removing legitimate negative-profit records.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50008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267712"/>
            <a:ext cx="10579608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438"/>
                </a:solidFill>
                <a:latin typeface="Aptos"/>
              </a:defRPr>
            </a:pPr>
            <a:r>
              <a:t>Reconcile totals across the full dataset and regional, category and segment summaries.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00400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118104"/>
            <a:ext cx="10579608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438"/>
                </a:solidFill>
                <a:latin typeface="Aptos"/>
              </a:defRPr>
            </a:pPr>
            <a:r>
              <a:t>Compare segmentation, sales prediction and monthly forecasting against transparent baselines.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50791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968496"/>
            <a:ext cx="10579608" cy="941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142438"/>
                </a:solidFill>
                <a:latin typeface="Aptos"/>
              </a:defRPr>
            </a:pPr>
            <a:r>
              <a:t>Present actionable recommendations with uncertainty and limitations made explicit.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Dataset provenance and research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Why the exact source file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481328"/>
            <a:ext cx="5212080" cy="3200400"/>
          </a:xfrm>
          <a:prstGeom prst="roundRect">
            <a:avLst>
              <a:gd name="adj" fmla="val 14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27D91"/>
                </a:solidFill>
                <a:latin typeface="Aptos"/>
              </a:defRPr>
            </a:pPr>
            <a:r>
              <a:t>Published Superstore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31136"/>
            <a:ext cx="4846320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Tableau documents Superstore as a fictitious retail dataset. An external CSV must be sourced and hashed before its results can be claimed.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481328"/>
            <a:ext cx="5440680" cy="3200400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16459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Executed demonstration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231136"/>
            <a:ext cx="5074920" cy="2322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760 generated line items · 380 orders · 86 customers · dates 2014–2017. These records verify the software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60076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A7A"/>
                </a:solidFill>
                <a:latin typeface="Aptos"/>
              </a:defRPr>
            </a:pPr>
            <a:r>
              <a:t>Reference: Tableau (sample dataset guidance) | The source file supplied for the MSc project was not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The complete Python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21408"/>
            <a:ext cx="1655064" cy="1234440"/>
          </a:xfrm>
          <a:prstGeom prst="roundRect">
            <a:avLst>
              <a:gd name="adj" fmla="val 12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258568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7D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140817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438"/>
                </a:solidFill>
                <a:latin typeface="Aptos"/>
              </a:defRPr>
            </a:pPr>
            <a:r>
              <a:t>CSV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6856" y="2496312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27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9463" y="2121408"/>
            <a:ext cx="1655064" cy="1234440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4056" y="2258568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7D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3" y="2697480"/>
            <a:ext cx="140817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438"/>
                </a:solidFill>
                <a:latin typeface="Aptos"/>
              </a:defRPr>
            </a:pPr>
            <a:r>
              <a:t>Schema checks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96312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27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2121408"/>
            <a:ext cx="1655064" cy="1234440"/>
          </a:xfrm>
          <a:prstGeom prst="roundRect">
            <a:avLst>
              <a:gd name="adj" fmla="val 12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258568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7D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697480"/>
            <a:ext cx="140817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438"/>
                </a:solidFill>
                <a:latin typeface="Aptos"/>
              </a:defRPr>
            </a:pPr>
            <a: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2496312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27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8232" y="2121408"/>
            <a:ext cx="1655064" cy="1234440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92824" y="2258568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7D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697480"/>
            <a:ext cx="140817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438"/>
                </a:solidFill>
                <a:latin typeface="Aptos"/>
              </a:defRPr>
            </a:pPr>
            <a:r>
              <a:t>Analytics + 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2496312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27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57615" y="2121408"/>
            <a:ext cx="1655064" cy="1234440"/>
          </a:xfrm>
          <a:prstGeom prst="roundRect">
            <a:avLst>
              <a:gd name="adj" fmla="val 12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2207" y="2258568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7D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4776" y="2697480"/>
            <a:ext cx="140817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438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496312"/>
            <a:ext cx="310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27D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86999" y="2121408"/>
            <a:ext cx="1655064" cy="1234440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51591" y="2258568"/>
            <a:ext cx="1097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7D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59" y="2697480"/>
            <a:ext cx="1408176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42438"/>
                </a:solidFill>
                <a:latin typeface="Aptos"/>
              </a:defRPr>
            </a:pPr>
            <a:r>
              <a:t>Evidence +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4160520"/>
            <a:ext cx="10424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42438"/>
                </a:solidFill>
                <a:latin typeface="Aptos"/>
              </a:defRPr>
            </a:pPr>
            <a:r>
              <a:t>Reproducibility safeguards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" y="4882896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800600"/>
            <a:ext cx="10579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42438"/>
                </a:solidFill>
                <a:latin typeface="Aptos"/>
              </a:defRPr>
            </a:pPr>
            <a:r>
              <a:t>SHA-256 source fingerprint • fixed random seed • time-ordered model evaluation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" y="5367528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285232"/>
            <a:ext cx="10579608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42438"/>
                </a:solidFill>
                <a:latin typeface="Aptos"/>
              </a:defRPr>
            </a:pPr>
            <a:r>
              <a:t>Automated reconciliation and tests • raw source preserved • negative profit retained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Data quality and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Observed verification counts on the synthetic demonstration fixture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81328"/>
            <a:ext cx="2596896" cy="1618488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45920"/>
            <a:ext cx="22311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760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31136"/>
            <a:ext cx="22311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Valid line 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1481328"/>
            <a:ext cx="2596896" cy="1618488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1645920"/>
            <a:ext cx="22311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2231136"/>
            <a:ext cx="22311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Dropped 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1481328"/>
            <a:ext cx="2596896" cy="1618488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1645920"/>
            <a:ext cx="22311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338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231136"/>
            <a:ext cx="22311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Loss-making lines retained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6024" y="1481328"/>
            <a:ext cx="2596896" cy="1618488"/>
          </a:xfrm>
          <a:prstGeom prst="roundRect">
            <a:avLst>
              <a:gd name="adj" fmla="val 14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1645920"/>
            <a:ext cx="22311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27D91"/>
                </a:solidFill>
                <a:latin typeface="Aptos"/>
              </a:defRPr>
            </a:pPr>
            <a:r>
              <a:t>12/12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2231136"/>
            <a:ext cx="223113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Unit tests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85032"/>
            <a:ext cx="54864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42438"/>
                </a:solidFill>
                <a:latin typeface="Aptos"/>
              </a:defRPr>
            </a:pPr>
            <a:r>
              <a:t>Validation controls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306824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224528"/>
            <a:ext cx="1067104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42438"/>
                </a:solidFill>
                <a:latin typeface="Aptos"/>
              </a:defRPr>
            </a:pPr>
            <a:r>
              <a:t>Unique Row ID; parseable dates; non-missing amounts and categories.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809744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727448"/>
            <a:ext cx="1067104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42438"/>
                </a:solidFill>
                <a:latin typeface="Aptos"/>
              </a:defRPr>
            </a:pPr>
            <a:r>
              <a:t>Discount between 0 and 1; shipping date not before ordering.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12664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230368"/>
            <a:ext cx="10671048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42438"/>
                </a:solidFill>
                <a:latin typeface="Aptos"/>
              </a:defRPr>
            </a:pPr>
            <a:r>
              <a:t>Group totals must reconcile to the line-item source.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Financial KPI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All values on this slide are from generated demonstration transactions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527048"/>
            <a:ext cx="2651760" cy="2011680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$233,909.50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76856"/>
            <a:ext cx="22860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1527048"/>
            <a:ext cx="2651760" cy="2011680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6916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$12,731.06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276856"/>
            <a:ext cx="22860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7376" y="1527048"/>
            <a:ext cx="2651760" cy="2011680"/>
          </a:xfrm>
          <a:prstGeom prst="roundRect">
            <a:avLst>
              <a:gd name="adj" fmla="val 14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16916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27D91"/>
                </a:solidFill>
                <a:latin typeface="Aptos"/>
              </a:defRPr>
            </a:pPr>
            <a:r>
              <a:t>5.44%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276856"/>
            <a:ext cx="22860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Profit margin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5168" y="1527048"/>
            <a:ext cx="2651760" cy="2011680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16916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380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2276856"/>
            <a:ext cx="22860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Distinct 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151376"/>
            <a:ext cx="10789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586A7A"/>
                </a:solidFill>
                <a:latin typeface="Aptos"/>
              </a:defRPr>
            </a:pPr>
            <a:r>
              <a:t>Interpretation is restricted to the synthetic fixture. No actual store profitability has been established.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Monthly sales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Visual diagnostic rather than real-world seasonality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9" name="Picture 8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90472"/>
            <a:ext cx="10753344" cy="422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" y="60076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A7A"/>
                </a:solidFill>
                <a:latin typeface="Aptos"/>
              </a:defRPr>
            </a:pPr>
            <a:r>
              <a:t>Monthly orders and sales are calculated after explicit date parsing and grouping.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Regional and category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Loss making values are preserved rather than filtered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9" name="Picture 8" descr="profi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88136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" y="60076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A7A"/>
                </a:solidFill>
                <a:latin typeface="Aptos"/>
              </a:defRPr>
            </a:pPr>
            <a:r>
              <a:t>Regional and category sums are reconciled against total source sales and profit.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RFM: recency, frequency and monetary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490472"/>
            <a:ext cx="3474720" cy="2203704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1655063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86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2240279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Customers aggregated by unique customer IDs and order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490472"/>
            <a:ext cx="3465576" cy="2203704"/>
          </a:xfrm>
          <a:prstGeom prst="roundRect">
            <a:avLst>
              <a:gd name="adj" fmla="val 14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55063"/>
            <a:ext cx="30998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27D91"/>
                </a:solidFill>
                <a:latin typeface="Aptos"/>
              </a:defRPr>
            </a:pPr>
            <a:r>
              <a:t>2 clusters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40279"/>
            <a:ext cx="3099816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Selected using silhouette comparison across k = 2–6.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490472"/>
            <a:ext cx="3465576" cy="2203704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1655063"/>
            <a:ext cx="309981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0.437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240279"/>
            <a:ext cx="3099816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Silhouette score on the synthetic RFM demonstration.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233672"/>
            <a:ext cx="10789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586A7A"/>
                </a:solidFill>
                <a:latin typeface="Aptos"/>
              </a:defRPr>
            </a:pPr>
            <a:r>
              <a:t>Cautions: scaling and log transformations influence clusters; cluster labels are exploratory and not customer ground truth.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Regression: transaction-level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Chronological train/test split avoids random mixing of future 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9" name="Picture 8" descr="regressio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99032"/>
            <a:ext cx="6611112" cy="42245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71231" y="1636776"/>
            <a:ext cx="3785615" cy="1947672"/>
          </a:xfrm>
          <a:prstGeom prst="roundRect">
            <a:avLst>
              <a:gd name="adj" fmla="val 14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801368"/>
            <a:ext cx="34198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27D91"/>
                </a:solidFill>
                <a:latin typeface="Aptos"/>
              </a:defRPr>
            </a:pPr>
            <a:r>
              <a:t>0.733 test 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86584"/>
            <a:ext cx="341985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Random forest on 156 held-out demonstration line items.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3986784"/>
            <a:ext cx="3584448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A7A"/>
                </a:solidFill>
                <a:latin typeface="Aptos"/>
              </a:defRPr>
            </a:pPr>
            <a:r>
              <a:t>Profit is excluded from the predictors. Evaluation remains observational, not live forecast validation.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Forecasting: rolling one-step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The simplest baseline can outperform a more complex estimator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9" name="Picture 8" descr="forecast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408176"/>
            <a:ext cx="6720840" cy="41970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71231" y="1709928"/>
            <a:ext cx="3749039" cy="1801368"/>
          </a:xfrm>
          <a:prstGeom prst="roundRect">
            <a:avLst>
              <a:gd name="adj" fmla="val 14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20"/>
            <a:ext cx="3383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27D91"/>
                </a:solidFill>
                <a:latin typeface="Aptos"/>
              </a:defRPr>
            </a:pPr>
            <a:r>
              <a:t>Seasonal naïve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459736"/>
            <a:ext cx="3383279" cy="9235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Lowest MAE among tested methods on the synthetic holdout.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913632"/>
            <a:ext cx="37581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86A7A"/>
                </a:solidFill>
                <a:latin typeface="Aptos"/>
              </a:defRPr>
            </a:pPr>
            <a:r>
              <a:t>12-month rolling backtest. Avoid selecting the most complex model solely because it is available.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Interactive dashboard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Standalone HTML dashboard (no Tableau/Power BI workbook claimed)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9" name="Picture 8" descr="Dashboard_Filter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572768"/>
            <a:ext cx="8458200" cy="4389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54312" y="1581912"/>
            <a:ext cx="2112264" cy="4361688"/>
          </a:xfrm>
          <a:prstGeom prst="roundRect">
            <a:avLst>
              <a:gd name="adj" fmla="val 12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82912" y="1847088"/>
            <a:ext cx="16733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27D91"/>
                </a:solidFill>
                <a:latin typeface="Aptos"/>
              </a:defRPr>
            </a:pPr>
            <a:r>
              <a:t>Verified functions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82912" y="2551176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3224" y="2468880"/>
            <a:ext cx="145389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42438"/>
                </a:solidFill>
                <a:latin typeface="Aptos"/>
              </a:defRPr>
            </a:pPr>
            <a:r>
              <a:t>Year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82912" y="3081528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93224" y="2999232"/>
            <a:ext cx="145389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42438"/>
                </a:solidFill>
                <a:latin typeface="Aptos"/>
              </a:defRPr>
            </a:pPr>
            <a:r>
              <a:t>Region filter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82912" y="3611880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93224" y="3529584"/>
            <a:ext cx="145389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42438"/>
                </a:solidFill>
                <a:latin typeface="Aptos"/>
              </a:defRPr>
            </a:pPr>
            <a:r>
              <a:t>Category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82912" y="4142231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3224" y="4059935"/>
            <a:ext cx="145389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42438"/>
                </a:solidFill>
                <a:latin typeface="Aptos"/>
              </a:defRPr>
            </a:pPr>
            <a:r>
              <a:t>Segment filter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82912" y="4672583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93224" y="4590288"/>
            <a:ext cx="145389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142438"/>
                </a:solidFill>
                <a:latin typeface="Aptos"/>
              </a:defRPr>
            </a:pPr>
            <a:r>
              <a:t>Responsive totals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Software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Test results are reproducible and separate from empirical validity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481328"/>
            <a:ext cx="3730752" cy="2011680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33649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12 / 12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31136"/>
            <a:ext cx="336499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Schema checks, negative-profit retention, aggregation, leakage and time split.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481328"/>
            <a:ext cx="3346704" cy="2011680"/>
          </a:xfrm>
          <a:prstGeom prst="roundRect">
            <a:avLst>
              <a:gd name="adj" fmla="val 14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645920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27D91"/>
                </a:solidFill>
                <a:latin typeface="Aptos"/>
              </a:defRPr>
            </a:pPr>
            <a:r>
              <a:t>0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231136"/>
            <a:ext cx="2980944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Last local run of the Python unit-test suite.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81328"/>
            <a:ext cx="3502152" cy="2011680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645920"/>
            <a:ext cx="3136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Reproducible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2231136"/>
            <a:ext cx="3136392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Commands and requirements included in the project bundle.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85615"/>
            <a:ext cx="105338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Limits of these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4544568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462272"/>
            <a:ext cx="1039672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42438"/>
                </a:solidFill>
                <a:latin typeface="Aptos"/>
              </a:defRPr>
            </a:pPr>
            <a:r>
              <a:t>Passing tests do not establish accuracy on an unseen public dataset.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" y="5120640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038344"/>
            <a:ext cx="10396728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142438"/>
                </a:solidFill>
                <a:latin typeface="Aptos"/>
              </a:defRPr>
            </a:pPr>
            <a:r>
              <a:t>No human participant feedback or formal ethical approval has been evidenced.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Recommendations for further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Hypotheses arising from the analytics design, not proven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527048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444752"/>
            <a:ext cx="1063447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438"/>
                </a:solidFill>
                <a:latin typeface="Aptos"/>
              </a:defRPr>
            </a:pPr>
            <a:r>
              <a:t>Identify negative-profit product groups, then validate causes and costs before changing pricing.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2414015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063447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438"/>
                </a:solidFill>
                <a:latin typeface="Aptos"/>
              </a:defRPr>
            </a:pPr>
            <a:r>
              <a:t>Review discount bands jointly with profit margins; correlation is not evidence that discount caused the loss.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3300984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18688"/>
            <a:ext cx="1063447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438"/>
                </a:solidFill>
                <a:latin typeface="Aptos"/>
              </a:defRPr>
            </a:pPr>
            <a:r>
              <a:t>Test segment-specific marketing actions with controlled trials and consent where applicable.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4187952"/>
            <a:ext cx="96012" cy="96012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05656"/>
            <a:ext cx="10634472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142438"/>
                </a:solidFill>
                <a:latin typeface="Aptos"/>
              </a:defRPr>
            </a:pPr>
            <a:r>
              <a:t>Use out-of-time forecast backtests to judge whether the selected forecasting method is operationally useful.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Completion boundary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What is verified, and what still requires independent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" y="1435608"/>
            <a:ext cx="5221224" cy="3465576"/>
          </a:xfrm>
          <a:prstGeom prst="roundRect">
            <a:avLst>
              <a:gd name="adj" fmla="val 14000"/>
            </a:avLst>
          </a:prstGeom>
          <a:solidFill>
            <a:srgbClr val="EE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" y="1600200"/>
            <a:ext cx="48554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27D91"/>
                </a:solidFill>
                <a:latin typeface="Aptos"/>
              </a:defRPr>
            </a:pPr>
            <a:r>
              <a:t>Completed and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" y="2185416"/>
            <a:ext cx="4855464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Executable Python pipeline, notebook, offline HTML dashboard, demonstration charts, regression and clustering tests, and presentation materials.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4" y="1435608"/>
            <a:ext cx="5212080" cy="3465576"/>
          </a:xfrm>
          <a:prstGeom prst="roundRect">
            <a:avLst>
              <a:gd name="adj" fmla="val 14000"/>
            </a:avLst>
          </a:prstGeom>
          <a:solidFill>
            <a:srgbClr val="F6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142438"/>
                </a:solidFill>
                <a:latin typeface="Aptos"/>
              </a:defRPr>
            </a:pPr>
            <a:r>
              <a:t>Not yet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2185416"/>
            <a:ext cx="4846320" cy="2587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Public source CSV execution, exact dataset findings, native Tableau/Power BI dashboard, ethically approved user testing, and student-authored final academic submission.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" y="600760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86A7A"/>
                </a:solidFill>
                <a:latin typeface="Aptos"/>
              </a:defRPr>
            </a:pPr>
            <a:r>
              <a:t>Do not relabel demonstration statistics as observations from a real retailer or an imported public dataset.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2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11018520" cy="5212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142438"/>
                </a:solidFill>
                <a:latin typeface="Aptos"/>
              </a:defRPr>
            </a:pPr>
            <a:r>
              <a:t>Discussion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914400"/>
            <a:ext cx="1092708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86A7A"/>
                </a:solidFill>
                <a:latin typeface="Aptos"/>
              </a:defRPr>
            </a:pPr>
            <a:r>
              <a:t>Questions, reproducibility, and ethical data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28232"/>
            <a:ext cx="11018520" cy="11887"/>
          </a:xfrm>
          <a:prstGeom prst="rect">
            <a:avLst/>
          </a:prstGeom>
          <a:solidFill>
            <a:srgbClr val="D7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7315200" cy="192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MSc Computer Science  |  Superstore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6473952"/>
            <a:ext cx="4114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800" b="0">
                <a:solidFill>
                  <a:srgbClr val="586A7A"/>
                </a:solidFill>
                <a:latin typeface="Aptos"/>
              </a:defRPr>
            </a:pPr>
            <a:r>
              <a:t>DEMONSTRATION DATA  •  NOT VERIFIED RETAIL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144768"/>
            <a:ext cx="182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86A7A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426464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127D91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48256"/>
            <a:ext cx="10725912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142438"/>
                </a:solidFill>
                <a:latin typeface="Aptos"/>
              </a:defRPr>
            </a:pPr>
            <a:r>
              <a:t>How can an independently verified dataset convert a technically sound dashboard into defensible, useful managerial evidence?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059936"/>
            <a:ext cx="4389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42438"/>
                </a:solidFill>
                <a:latin typeface="Aptos"/>
              </a:defRPr>
            </a:pPr>
            <a:r>
              <a:t>Key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526280"/>
            <a:ext cx="10744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University of Law (2025/26), MSc project assessment brief.</a:t>
            </a:r>
          </a:p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Tableau (n.d.), Sample – Superstore tutorial and sample-data documentation.</a:t>
            </a:r>
          </a:p>
          <a:p>
            <a:pPr>
              <a:spcAft>
                <a:spcPts val="500"/>
              </a:spcAft>
              <a:defRPr sz="1400" b="0">
                <a:solidFill>
                  <a:srgbClr val="586A7A"/>
                </a:solidFill>
                <a:latin typeface="Aptos"/>
              </a:defRPr>
            </a:pPr>
            <a:r>
              <a:t>Provost and Fawcett (2013), Data Science for Business.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